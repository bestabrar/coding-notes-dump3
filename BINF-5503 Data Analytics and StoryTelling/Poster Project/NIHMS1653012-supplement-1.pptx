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0" autoAdjust="0"/>
    <p:restoredTop sz="94660"/>
  </p:normalViewPr>
  <p:slideViewPr>
    <p:cSldViewPr snapToGrid="0">
      <p:cViewPr varScale="1">
        <p:scale>
          <a:sx n="90" d="100"/>
          <a:sy n="90" d="100"/>
        </p:scale>
        <p:origin x="928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DA905-816E-4400-BA9B-0E95EF53B2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3379BC-7996-4786-9DCB-90815646EB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1964-EE67-40F8-AD7C-200B8B1B0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6BBE9-BC6C-4269-A231-37C0F58308B3}" type="datetimeFigureOut">
              <a:rPr lang="en-US" smtClean="0"/>
              <a:t>3/18/20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AF626-CB04-4EE3-8184-85B1E068D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C34C9-2233-4B7A-A552-7A534252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25991-F4DB-4E47-BD0B-64F01652B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50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DB4A7-6F08-4964-84EE-E5C348032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BFB8F-D4DA-42D6-AD56-CED2B7CE8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5752F-C09E-4347-A6F1-F46E3E38F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6BBE9-BC6C-4269-A231-37C0F58308B3}" type="datetimeFigureOut">
              <a:rPr lang="en-US" smtClean="0"/>
              <a:t>3/18/20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A01C3-E4B6-4DB1-9E8A-69CBFCA2A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8D633-E42C-413A-978F-E2392772E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25991-F4DB-4E47-BD0B-64F01652B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520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2EBCF-ABEA-4496-8AC4-6D566789A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709FA-906D-404A-84FC-930E71FFC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B4875-3507-415E-A848-28E0656B0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6BBE9-BC6C-4269-A231-37C0F58308B3}" type="datetimeFigureOut">
              <a:rPr lang="en-US" smtClean="0"/>
              <a:t>3/18/20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2D4D7-127D-4FBB-B8F9-0A4BE1902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A079B-CD49-4EB2-BF77-8F2761B23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25991-F4DB-4E47-BD0B-64F01652B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1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51559-4906-4FF4-BDBA-604143D22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59E04-5F0D-4B20-8966-B510207FEE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430B08-7B0B-4F60-8097-948278396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3611D-E07B-49BD-B9BB-FEDDD3CE2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6BBE9-BC6C-4269-A231-37C0F58308B3}" type="datetimeFigureOut">
              <a:rPr lang="en-US" smtClean="0"/>
              <a:t>3/18/20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40EFF-5231-4F16-8056-4E4B42A5F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A573A5-F51F-4F8D-9A9A-BBB915661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25991-F4DB-4E47-BD0B-64F01652B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216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C288E-6EA8-4271-836E-472A30094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13C40-5211-43CF-A1A8-E4702F239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BDFD9-6F5F-4103-BAD8-367405B8C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2BEE95-21A4-4C87-A91D-82101805FA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1E04F7-3D81-4057-9441-7CC2F78438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E1B49C-9943-415E-ABDB-5BBC86D3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6BBE9-BC6C-4269-A231-37C0F58308B3}" type="datetimeFigureOut">
              <a:rPr lang="en-US" smtClean="0"/>
              <a:t>3/18/20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5FDF49-599A-446C-BDE0-0CD4A87D4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465AF7-E787-4A4F-B4C5-173DB44E3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25991-F4DB-4E47-BD0B-64F01652B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573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15CF3-3128-4B4D-B911-4D56BE0DB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8EF650-588D-4368-9853-B3BF6DED5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6BBE9-BC6C-4269-A231-37C0F58308B3}" type="datetimeFigureOut">
              <a:rPr lang="en-US" smtClean="0"/>
              <a:t>3/18/20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A5A8B6-566C-41C0-BBCA-767020F8B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094993-8FA0-49FE-B45F-CCB36CC24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25991-F4DB-4E47-BD0B-64F01652B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19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EE5235-303F-4ADA-9BCF-A6E2873A6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6BBE9-BC6C-4269-A231-37C0F58308B3}" type="datetimeFigureOut">
              <a:rPr lang="en-US" smtClean="0"/>
              <a:t>3/18/20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40AA33-9D91-43EA-91D4-F81B546C5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2BCF7-6706-40C4-B7C2-D5C38BB79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25991-F4DB-4E47-BD0B-64F01652B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742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FC370-17F4-480A-B6E5-59ADA01B6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FC079-7D37-4C51-BE26-60EC40BF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FC080A-15BB-4FB1-A76E-55DCDBE6E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A394AC-F8BD-4E1E-AE16-FB077A2A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6BBE9-BC6C-4269-A231-37C0F58308B3}" type="datetimeFigureOut">
              <a:rPr lang="en-US" smtClean="0"/>
              <a:t>3/18/20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D4810-13B8-42F0-8C75-0B1ED7355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C1F8F-1423-48A8-BB1D-0D427C248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25991-F4DB-4E47-BD0B-64F01652B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845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9DEA5-D7F7-4B85-BE5C-AD89385AF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391C34-8625-477C-9FA0-57765C77F1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40D56-46F8-4FC7-93B4-FF0C4A4CC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BA6086-1191-4019-82E9-5696B7035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6BBE9-BC6C-4269-A231-37C0F58308B3}" type="datetimeFigureOut">
              <a:rPr lang="en-US" smtClean="0"/>
              <a:t>3/18/20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805E3-A177-470F-BEA8-E028EE2E8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4A5DA-9F8D-491A-9C70-D63B61252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25991-F4DB-4E47-BD0B-64F01652B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79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39E08-F610-41B3-91F4-0811D3716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279B6-2F0D-40D9-A42D-60CAEE2C49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8B41A-16A2-4658-BA52-E669BE913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6BBE9-BC6C-4269-A231-37C0F58308B3}" type="datetimeFigureOut">
              <a:rPr lang="en-US" smtClean="0"/>
              <a:t>3/18/20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3980C-9062-48D0-89CE-FFB387925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35C47-6D48-43FB-B7F0-90F9817ED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25991-F4DB-4E47-BD0B-64F01652B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0D62C7-C580-4788-9F97-6968F3199E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D8875F-FB91-4CA8-BBEF-DC14B7AB2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DAB15-1404-42C1-81AF-D0F0D5DA3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6BBE9-BC6C-4269-A231-37C0F58308B3}" type="datetimeFigureOut">
              <a:rPr lang="en-US" smtClean="0"/>
              <a:t>3/18/20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98C91-0906-43A3-92F5-C4AF61BFB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6F42F-152D-4BAF-AD88-2CA3DE493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25991-F4DB-4E47-BD0B-64F01652B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699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862D2C-C389-45B8-AB0F-AE0C4D3B8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956CCC-81B9-47A2-9132-5F2517243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9C162-DA95-47C5-85CD-0DCE42BFD5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C6BBE9-BC6C-4269-A231-37C0F58308B3}" type="datetimeFigureOut">
              <a:rPr lang="en-US" smtClean="0"/>
              <a:t>3/18/20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00A9E-BD1C-4009-B61F-C47C06FA51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DE6DD-96F3-45CD-9086-EC84A40FF1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25991-F4DB-4E47-BD0B-64F01652B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50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E9B9DB-7D1E-4B1B-9E60-6EE48811F54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606675" y="1084898"/>
            <a:ext cx="2225619" cy="23130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0F7400-6797-49C6-96D9-90A55540D60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290435" y="3487103"/>
            <a:ext cx="2248012" cy="23130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CBA493-28B2-485C-8002-BDB72862B42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606675" y="3487103"/>
            <a:ext cx="2239304" cy="23130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BA8C25-A706-460F-B45F-DFDD5DABBAA8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934586" y="1084898"/>
            <a:ext cx="2252366" cy="23130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899641-5725-42A3-879A-2A6E0FED20DD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7290435" y="1084898"/>
            <a:ext cx="2225619" cy="23130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F9E81B-CE27-47F0-98DA-C5FDF5BCD1A8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4939030" y="3487103"/>
            <a:ext cx="2248012" cy="231306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DCDF980-B597-4BBD-8A2F-90825ACB8A34}"/>
              </a:ext>
            </a:extLst>
          </p:cNvPr>
          <p:cNvSpPr/>
          <p:nvPr/>
        </p:nvSpPr>
        <p:spPr>
          <a:xfrm>
            <a:off x="4560168" y="187209"/>
            <a:ext cx="2444131" cy="5687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Figure S1.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GSEA analysis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" y="5849818"/>
            <a:ext cx="119167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Figure S1: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GSEA suggest that organoids induced under the conditions described in the manuscript undergo a marked transformation to a highly proliferative and malignant phenotype.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Organoid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induction was strongly associated with up-regulation in gene sets associated with epithelial-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mesenchymal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transition (p &lt; 0.001), KRAS signaling (p &lt; 0.001), IL6/JAK/STAT pathway signaling (p = 0.003),  and other pathways commonly up-regulated in malignant tissues (e.g. MTORC signaling (p &lt; 0.001) and E2F target signaling (p &lt; 0.001). </a:t>
            </a:r>
          </a:p>
        </p:txBody>
      </p:sp>
    </p:spTree>
    <p:extLst>
      <p:ext uri="{BB962C8B-B14F-4D97-AF65-F5344CB8AC3E}">
        <p14:creationId xmlns:p14="http://schemas.microsoft.com/office/powerpoint/2010/main" val="3364090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4E56442-B5A3-4FAD-897E-E3F5AECD1FC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20683" y="606013"/>
            <a:ext cx="4547552" cy="39032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F1FD29B-C26C-4A92-B608-5882063DEAF5}"/>
              </a:ext>
            </a:extLst>
          </p:cNvPr>
          <p:cNvSpPr/>
          <p:nvPr/>
        </p:nvSpPr>
        <p:spPr>
          <a:xfrm>
            <a:off x="3878851" y="0"/>
            <a:ext cx="4572277" cy="5687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Figure S2. Representative nab-paclitaxel curve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F5355A-F51D-483D-90FE-3A49EBADD979}"/>
              </a:ext>
            </a:extLst>
          </p:cNvPr>
          <p:cNvSpPr/>
          <p:nvPr/>
        </p:nvSpPr>
        <p:spPr>
          <a:xfrm>
            <a:off x="283732" y="4595842"/>
            <a:ext cx="112909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Figure S2.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Nab-paclitaxel yielded mixed results. Two specimens (OV820 and OV838) showed an inflection in the viability curve at low nab-paclitaxel concentrations (range of 0.01-0.26um). OV838 (represented here) also showed more inhibition with higher concentrations (range of 5.91-54.97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μM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738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39C185-1B98-4DED-82FE-A7D3E4B1DEC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3" b="8134"/>
          <a:stretch>
            <a:fillRect/>
          </a:stretch>
        </p:blipFill>
        <p:spPr bwMode="auto">
          <a:xfrm>
            <a:off x="3620805" y="1432230"/>
            <a:ext cx="4950389" cy="38044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882EC80-2844-42E2-8961-00E450C90B9A}"/>
              </a:ext>
            </a:extLst>
          </p:cNvPr>
          <p:cNvSpPr/>
          <p:nvPr/>
        </p:nvSpPr>
        <p:spPr>
          <a:xfrm>
            <a:off x="3971282" y="-104203"/>
            <a:ext cx="5316071" cy="1225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Figure S3: Example of IC50 curve in triplicate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F5355A-F51D-483D-90FE-3A49EBADD979}"/>
              </a:ext>
            </a:extLst>
          </p:cNvPr>
          <p:cNvSpPr/>
          <p:nvPr/>
        </p:nvSpPr>
        <p:spPr>
          <a:xfrm>
            <a:off x="283732" y="5446970"/>
            <a:ext cx="112909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Figure S3.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IC50 curves were performed in triplicate when sufficient material was available. Here, OV899 Carboplatin IC50 curves are depicted in triplicate with the Mean and SD. </a:t>
            </a:r>
            <a:endParaRPr lang="en-U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715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6FE809-72EA-46F5-88FF-AB755A851B39}"/>
              </a:ext>
            </a:extLst>
          </p:cNvPr>
          <p:cNvSpPr/>
          <p:nvPr/>
        </p:nvSpPr>
        <p:spPr>
          <a:xfrm>
            <a:off x="3526666" y="0"/>
            <a:ext cx="5316071" cy="17793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algn="ctr">
              <a:lnSpc>
                <a:spcPct val="200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Figure S4:Representative examples of cell viability measured via ATP and average organoid area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E75520F-1711-4D10-B669-6E0E65D779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9030293"/>
              </p:ext>
            </p:extLst>
          </p:nvPr>
        </p:nvGraphicFramePr>
        <p:xfrm>
          <a:off x="603250" y="2151063"/>
          <a:ext cx="4854575" cy="331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Prism 8" r:id="rId3" imgW="6249166" imgH="4266625" progId="Prism8.Document">
                  <p:embed/>
                </p:oleObj>
              </mc:Choice>
              <mc:Fallback>
                <p:oleObj name="Prism 8" r:id="rId3" imgW="6249166" imgH="4266625" progId="Prism8.Document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3BD2F03F-9632-43F7-9E0D-439F2143E1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3250" y="2151063"/>
                        <a:ext cx="4854575" cy="3316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D125C6F-E2FE-44BC-824D-4BE9D63303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1786165"/>
              </p:ext>
            </p:extLst>
          </p:nvPr>
        </p:nvGraphicFramePr>
        <p:xfrm>
          <a:off x="6823075" y="2525713"/>
          <a:ext cx="4683125" cy="275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Prism 8" r:id="rId5" imgW="4388563" imgH="2581285" progId="Prism8.Document">
                  <p:embed/>
                </p:oleObj>
              </mc:Choice>
              <mc:Fallback>
                <p:oleObj name="Prism 8" r:id="rId5" imgW="4388563" imgH="2581285" progId="Prism8.Document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A6F34014-4F13-4FC4-9AE5-EE0E72A948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23075" y="2525713"/>
                        <a:ext cx="4683125" cy="2754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A6F9742-A700-470A-B579-01B6FEC070BB}"/>
              </a:ext>
            </a:extLst>
          </p:cNvPr>
          <p:cNvSpPr txBox="1"/>
          <p:nvPr/>
        </p:nvSpPr>
        <p:spPr>
          <a:xfrm>
            <a:off x="494951" y="2136085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49D469-6094-4EBF-98DC-D8020768DBDE}"/>
              </a:ext>
            </a:extLst>
          </p:cNvPr>
          <p:cNvSpPr txBox="1"/>
          <p:nvPr/>
        </p:nvSpPr>
        <p:spPr>
          <a:xfrm>
            <a:off x="6385421" y="213608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BA1F12-D949-4CB9-9697-FBA5E772FF87}"/>
              </a:ext>
            </a:extLst>
          </p:cNvPr>
          <p:cNvSpPr/>
          <p:nvPr/>
        </p:nvSpPr>
        <p:spPr>
          <a:xfrm>
            <a:off x="283732" y="5446970"/>
            <a:ext cx="112909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Figure S4. a. ATP measured as Luminescence in samples at Day 1 and 6. Data are presented as mean with SD, n=6. b. Average organoid area is measured in samples at day 1 and day 6. Data are presented as mean with SD, n= 6.</a:t>
            </a:r>
          </a:p>
        </p:txBody>
      </p:sp>
    </p:spTree>
    <p:extLst>
      <p:ext uri="{BB962C8B-B14F-4D97-AF65-F5344CB8AC3E}">
        <p14:creationId xmlns:p14="http://schemas.microsoft.com/office/powerpoint/2010/main" val="3099335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270</Words>
  <Application>Microsoft Macintosh PowerPoint</Application>
  <PresentationFormat>Widescreen</PresentationFormat>
  <Paragraphs>12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Prism 8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ChienLab</dc:creator>
  <cp:lastModifiedBy>Lloyd Smith</cp:lastModifiedBy>
  <cp:revision>10</cp:revision>
  <dcterms:created xsi:type="dcterms:W3CDTF">2020-01-10T01:05:24Z</dcterms:created>
  <dcterms:modified xsi:type="dcterms:W3CDTF">2020-03-19T02:06:35Z</dcterms:modified>
</cp:coreProperties>
</file>